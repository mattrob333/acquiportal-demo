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333333"/>
                </a:solidFill>
                <a:latin typeface="Arial"/>
              </a:defRPr>
            </a:pPr>
            <a:r>
              <a:rPr sz="1400" b="1" i="0" u="none" strike="noStrike">
                <a:solidFill>
                  <a:srgbClr val="333333"/>
                </a:solidFill>
                <a:latin typeface="Arial"/>
              </a:rPr>
              <a:t>Revenue Trend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D8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TTM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1720000</c:v>
                </c:pt>
                <c:pt idx="1">
                  <c:v>1765000</c:v>
                </c:pt>
                <c:pt idx="2">
                  <c:v>1810000</c:v>
                </c:pt>
                <c:pt idx="3">
                  <c:v>1800000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333333"/>
                </a:solidFill>
                <a:latin typeface="Arial"/>
              </a:defRPr>
            </a:pPr>
            <a:r>
              <a:rPr sz="1400" b="1" i="0" u="none" strike="noStrike">
                <a:solidFill>
                  <a:srgbClr val="333333"/>
                </a:solidFill>
                <a:latin typeface="Arial"/>
              </a:rPr>
              <a:t>Seller Discretionary Earnings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SDE</c:v>
                </c:pt>
              </c:strCache>
            </c:strRef>
          </c:tx>
          <c:spPr>
            <a:solidFill>
              <a:srgbClr val="2D6B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TTM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365000</c:v>
                </c:pt>
                <c:pt idx="1">
                  <c:v>372000</c:v>
                </c:pt>
                <c:pt idx="2">
                  <c:v>380000</c:v>
                </c:pt>
                <c:pt idx="3">
                  <c:v>385000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8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</a:t>
            </a:r>
            <a:pPr indent="0" marL="0">
              <a:buNone/>
            </a:pPr>
            <a:r>
              <a:rPr lang="en-US" sz="1800" b="1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SBA 7(a) LOAN REQUEST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Marietta HVAC Services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Financing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Request: $900,000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Prepared: January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ID: AP-2026-00001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Business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Marietta HVAC Services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Marietta, Georgia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25 years in operation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 employees (8 technicians)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 service vehicles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Residential HVAC focus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Price: $1,100,000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SBA 7(a) Loan: $900,000 (82%)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Note: $110,000 (10%)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Equity: $90,000 (8%)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2011680" cy="1097280"/>
          </a:xfrm>
          <a:prstGeom prst="rect">
            <a:avLst/>
          </a:prstGeom>
          <a:solidFill>
            <a:srgbClr val="3D8B7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29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 Revenue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3291840"/>
            <a:ext cx="2011680" cy="1097280"/>
          </a:xfrm>
          <a:prstGeom prst="rect">
            <a:avLst/>
          </a:prstGeom>
          <a:solidFill>
            <a:srgbClr val="3D8B7A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3429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$385K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176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 SDE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291840"/>
            <a:ext cx="2011680" cy="1097280"/>
          </a:xfrm>
          <a:prstGeom prst="rect">
            <a:avLst/>
          </a:prstGeom>
          <a:solidFill>
            <a:srgbClr val="3D8B7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429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632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SDE Margin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3291840"/>
            <a:ext cx="2011680" cy="1097280"/>
          </a:xfrm>
          <a:prstGeom prst="rect">
            <a:avLst/>
          </a:prstGeom>
          <a:solidFill>
            <a:srgbClr val="3D8B7A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3429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3.18x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91440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393192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</a:tblGrid>
              <a:tr h="1959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SDE Calculation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7A"/>
                    </a:solidFill>
                  </a:tcPr>
                </a:tc>
              </a:tr>
              <a:tr h="1959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Income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Owner Salary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Owner Benefits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Depreciation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Interest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9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1"/>
                    </a:solidFill>
                  </a:tcPr>
                </a:tc>
              </a:tr>
            </a:tbl>
          </a:graphicData>
        </a:graphic>
      </p:graphicFrame>
      <p:sp>
        <p:nvSpPr>
          <p:cNvPr id="6" name="Shape 1"/>
          <p:cNvSpPr/>
          <p:nvPr/>
        </p:nvSpPr>
        <p:spPr>
          <a:xfrm>
            <a:off x="4754880" y="365760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2"/>
          <p:cNvSpPr/>
          <p:nvPr/>
        </p:nvSpPr>
        <p:spPr>
          <a:xfrm>
            <a:off x="484632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 Ratios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846320" y="41148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Margin: 42%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SDE Margin: 21%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(3yr CAGR): 2.7%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SDE Growth (3yr CAGR): 2.8%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Service Coverage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E8F4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Loan Terms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Amount: $900,000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Program: SBA 7(a)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 10 years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Rate: 10.5% (Prime + 2.75%)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Debt Service: $121,000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DSCR Calculation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SDE (Owner at Market Wage): $265,000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Annual Debt Service: $121,000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DSCR: 2.19x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3D8B7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SDE DSCR (Owner-Operator): 3.18x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8229600" cy="118872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  <a:gridCol w="18288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7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Case (Full SDE)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3.18x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Market Wage ($120K)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Downside (-15% Revenue)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C7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SBA Minimum Requirement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 &amp; Use of Funds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3749040" cy="109728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Acquisition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Capital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 Upgrade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(FSM Software)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Project 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6517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of Funds: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SBA 7(a) Loan: $900,000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Seller Note (10%, 5yr): $110,000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Buyer Equity: $90,000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914400"/>
            <a:ext cx="3931920" cy="2560320"/>
          </a:xfrm>
          <a:prstGeom prst="rect">
            <a:avLst/>
          </a:prstGeom>
          <a:solidFill>
            <a:srgbClr val="E8F4F1"/>
          </a:solidFill>
          <a:ln/>
        </p:spPr>
      </p:sp>
      <p:sp>
        <p:nvSpPr>
          <p:cNvPr id="8" name="Text 5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 Package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63040"/>
          <a:ext cx="374904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Vehicles (8)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 &amp; Tools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 (Avg)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Hard Assets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846320" y="2926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Collateral: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 guaranty of buyer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Assignment of business assets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Life insurance on buyer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3D8B7A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Loan-to-Value Ratio: 45% (Hard Assets Only)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Qualifications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Profile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[Buyer Name]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15+ years operations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MBA from [University]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Previous P&amp;L responsibility: $5M+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HVAC industry consulting experience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solidFill>
            <a:srgbClr val="E8F4F1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Strength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Assets: $150,000+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Worth: $500,000+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Score: 780+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Injection: $90,000 (9%)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Personal savings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bankruptcies or defaults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&amp; Value Creation Plan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12-month seller transition agreement negotiated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Technology modernization roadmap (ServiceTitan implementation)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automation to increase capacity 20%+ without headcount growth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8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Deal Makes Sense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Business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25-year track record with stable cash flows and excellent reputation (4.7★)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Debt Coverage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DSCR of 3.18x provides significant cushion above SBA requirements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Creation Opportunity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$265K annual upside through AI/automation with 2-month payback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Favorable Structure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Motivated seller, seller financing, 12-month transition support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2D6B5A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Request: $900,000 SBA 7(a) Loan  |  10-Year Term  |  DSCR: 3.18x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</a:t>
            </a:r>
            <a:pPr algn="ctr" indent="0" marL="0">
              <a:buNone/>
            </a:pPr>
            <a:r>
              <a:rPr lang="en-US" sz="48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Intelligence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2743200"/>
            <a:ext cx="3657600" cy="18288"/>
          </a:xfrm>
          <a:prstGeom prst="rect">
            <a:avLst/>
          </a:prstGeom>
          <a:solidFill>
            <a:srgbClr val="3D8B7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questions regarding this loan package: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[Buyer Name]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[Email] | [Phone]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ID: AP-2026-00001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Marietta HVAC Services - SBA Loan Package</dc:title>
  <dc:subject>Acquisition Financing Request</dc:subject>
  <dc:creator>AcquiPortal</dc:creator>
  <cp:lastModifiedBy>AcquiPortal</cp:lastModifiedBy>
  <cp:revision>1</cp:revision>
  <dcterms:created xsi:type="dcterms:W3CDTF">2026-01-29T18:49:34Z</dcterms:created>
  <dcterms:modified xsi:type="dcterms:W3CDTF">2026-01-29T18:49:34Z</dcterms:modified>
</cp:coreProperties>
</file>